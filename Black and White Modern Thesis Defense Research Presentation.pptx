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League Spartan" panose="02020500000000000000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0722" y="3506328"/>
            <a:ext cx="12392392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3"/>
              </a:lnSpc>
            </a:pPr>
            <a:r>
              <a:rPr lang="en-US" sz="11977" spc="44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健康管理系統</a:t>
            </a:r>
          </a:p>
          <a:p>
            <a:pPr algn="l">
              <a:lnSpc>
                <a:spcPts val="15572"/>
              </a:lnSpc>
            </a:pPr>
            <a:endParaRPr lang="en-US" sz="11977" spc="443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Freeform 3"/>
          <p:cNvSpPr/>
          <p:nvPr/>
        </p:nvSpPr>
        <p:spPr>
          <a:xfrm rot="-5400000">
            <a:off x="11878669" y="4495924"/>
            <a:ext cx="11520040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9027295"/>
            <a:ext cx="2420057" cy="462011"/>
          </a:xfrm>
          <a:custGeom>
            <a:avLst/>
            <a:gdLst/>
            <a:ahLst/>
            <a:cxnLst/>
            <a:rect l="l" t="t" r="r" b="b"/>
            <a:pathLst>
              <a:path w="2420057" h="462011">
                <a:moveTo>
                  <a:pt x="0" y="0"/>
                </a:moveTo>
                <a:lnTo>
                  <a:pt x="2420057" y="0"/>
                </a:lnTo>
                <a:lnTo>
                  <a:pt x="2420057" y="462010"/>
                </a:lnTo>
                <a:lnTo>
                  <a:pt x="0" y="4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30722" y="962025"/>
            <a:ext cx="9753199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9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HEALTH MANAGEMENT SYSTEM (HMS)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0722" y="7020672"/>
            <a:ext cx="5351705" cy="60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  <a:spcBef>
                <a:spcPct val="0"/>
              </a:spcBef>
            </a:pPr>
            <a:r>
              <a:rPr lang="en-US" sz="3578" spc="2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雷長晏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254959" y="4431002"/>
            <a:ext cx="12641087" cy="1424995"/>
          </a:xfrm>
          <a:custGeom>
            <a:avLst/>
            <a:gdLst/>
            <a:ahLst/>
            <a:cxnLst/>
            <a:rect l="l" t="t" r="r" b="b"/>
            <a:pathLst>
              <a:path w="12641087" h="1424995">
                <a:moveTo>
                  <a:pt x="0" y="0"/>
                </a:moveTo>
                <a:lnTo>
                  <a:pt x="12641087" y="0"/>
                </a:lnTo>
                <a:lnTo>
                  <a:pt x="12641087" y="1424996"/>
                </a:lnTo>
                <a:lnTo>
                  <a:pt x="0" y="142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5584471" y="4885466"/>
            <a:ext cx="12587947" cy="1419005"/>
          </a:xfrm>
          <a:custGeom>
            <a:avLst/>
            <a:gdLst/>
            <a:ahLst/>
            <a:cxnLst/>
            <a:rect l="l" t="t" r="r" b="b"/>
            <a:pathLst>
              <a:path w="12587947" h="1419005">
                <a:moveTo>
                  <a:pt x="0" y="0"/>
                </a:moveTo>
                <a:lnTo>
                  <a:pt x="12587947" y="0"/>
                </a:lnTo>
                <a:lnTo>
                  <a:pt x="12587947" y="1419005"/>
                </a:lnTo>
                <a:lnTo>
                  <a:pt x="0" y="1419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00711" y="3537568"/>
            <a:ext cx="2859786" cy="4114800"/>
          </a:xfrm>
          <a:custGeom>
            <a:avLst/>
            <a:gdLst/>
            <a:ahLst/>
            <a:cxnLst/>
            <a:rect l="l" t="t" r="r" b="b"/>
            <a:pathLst>
              <a:path w="2859786" h="4114800">
                <a:moveTo>
                  <a:pt x="0" y="0"/>
                </a:moveTo>
                <a:lnTo>
                  <a:pt x="2859786" y="0"/>
                </a:lnTo>
                <a:lnTo>
                  <a:pt x="28597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34820" y="1195966"/>
            <a:ext cx="8713973" cy="163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4"/>
              </a:lnSpc>
              <a:spcBef>
                <a:spcPct val="0"/>
              </a:spcBef>
            </a:pPr>
            <a:r>
              <a:rPr lang="en-US" sz="9574" spc="268">
                <a:solidFill>
                  <a:srgbClr val="FF66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想法&amp;目標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940163"/>
            <a:ext cx="2822180" cy="318137"/>
          </a:xfrm>
          <a:custGeom>
            <a:avLst/>
            <a:gdLst/>
            <a:ahLst/>
            <a:cxnLst/>
            <a:rect l="l" t="t" r="r" b="b"/>
            <a:pathLst>
              <a:path w="2822180" h="318137">
                <a:moveTo>
                  <a:pt x="0" y="0"/>
                </a:moveTo>
                <a:lnTo>
                  <a:pt x="2822180" y="0"/>
                </a:lnTo>
                <a:lnTo>
                  <a:pt x="2822180" y="318137"/>
                </a:lnTo>
                <a:lnTo>
                  <a:pt x="0" y="31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098658"/>
            <a:ext cx="8173265" cy="163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04"/>
              </a:lnSpc>
              <a:spcBef>
                <a:spcPct val="0"/>
              </a:spcBef>
            </a:pPr>
            <a:r>
              <a:rPr lang="en-US" sz="9574" spc="26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運用技術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11878669" y="4495924"/>
            <a:ext cx="11520040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81075"/>
            <a:ext cx="5706106" cy="40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  <a:spcBef>
                <a:spcPct val="0"/>
              </a:spcBef>
            </a:pPr>
            <a:r>
              <a:rPr lang="en-US" sz="2376" spc="6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TECHNOLOGIES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83483"/>
            <a:ext cx="4884250" cy="399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 b="1">
                <a:solidFill>
                  <a:srgbClr val="00B7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後端技術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Flask 框架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Flask-SQLAlchemy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SQLite: 資料庫系統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51164" y="1883483"/>
            <a:ext cx="4884250" cy="236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 b="1">
                <a:solidFill>
                  <a:srgbClr val="00B7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設計與資料交換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RESTful API 概念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JSON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12950" y="1883483"/>
            <a:ext cx="4884250" cy="318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 b="1">
                <a:solidFill>
                  <a:srgbClr val="00B7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前端技術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HTML5 / Jinja2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Fetch API</a:t>
            </a:r>
          </a:p>
          <a:p>
            <a:pPr marL="561344" lvl="1" indent="-280672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數據驅動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85286" y="4280300"/>
            <a:ext cx="14674014" cy="1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Flask 框架: 輕量級 Python Web 框架，建立路由（Routing）和處理 HTTP 請求</a:t>
            </a:r>
          </a:p>
        </p:txBody>
      </p:sp>
      <p:sp>
        <p:nvSpPr>
          <p:cNvPr id="3" name="Freeform 3"/>
          <p:cNvSpPr/>
          <p:nvPr/>
        </p:nvSpPr>
        <p:spPr>
          <a:xfrm>
            <a:off x="2585286" y="9102005"/>
            <a:ext cx="2772968" cy="312589"/>
          </a:xfrm>
          <a:custGeom>
            <a:avLst/>
            <a:gdLst/>
            <a:ahLst/>
            <a:cxnLst/>
            <a:rect l="l" t="t" r="r" b="b"/>
            <a:pathLst>
              <a:path w="2772968" h="312589">
                <a:moveTo>
                  <a:pt x="0" y="0"/>
                </a:moveTo>
                <a:lnTo>
                  <a:pt x="2772968" y="0"/>
                </a:lnTo>
                <a:lnTo>
                  <a:pt x="2772968" y="312590"/>
                </a:lnTo>
                <a:lnTo>
                  <a:pt x="0" y="3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85286" y="648607"/>
            <a:ext cx="11907103" cy="137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spc="224">
                <a:solidFill>
                  <a:srgbClr val="FF66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後端功能介紹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-5110709" y="4495924"/>
            <a:ext cx="11520040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85286" y="2061435"/>
            <a:ext cx="10530179" cy="1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Flask-SQLAlchemy:可以用 Python 操作資料庫，不需要寫原生 SQL 指令。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5286" y="6185362"/>
            <a:ext cx="14674014" cy="1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SQLite: 資料庫系統。輕量級的磁碟檔案資料庫，不需要安裝複雜的伺服器，適合小型專案或開發階段使用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7923" y="1926215"/>
            <a:ext cx="14674014" cy="78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Fetch API:與後端 API 通訊，執行資料的讀取、新增與刪除。</a:t>
            </a:r>
          </a:p>
        </p:txBody>
      </p:sp>
      <p:sp>
        <p:nvSpPr>
          <p:cNvPr id="3" name="Freeform 3"/>
          <p:cNvSpPr/>
          <p:nvPr/>
        </p:nvSpPr>
        <p:spPr>
          <a:xfrm>
            <a:off x="2585286" y="9102005"/>
            <a:ext cx="2772968" cy="312589"/>
          </a:xfrm>
          <a:custGeom>
            <a:avLst/>
            <a:gdLst/>
            <a:ahLst/>
            <a:cxnLst/>
            <a:rect l="l" t="t" r="r" b="b"/>
            <a:pathLst>
              <a:path w="2772968" h="312589">
                <a:moveTo>
                  <a:pt x="0" y="0"/>
                </a:moveTo>
                <a:lnTo>
                  <a:pt x="2772968" y="0"/>
                </a:lnTo>
                <a:lnTo>
                  <a:pt x="2772968" y="312590"/>
                </a:lnTo>
                <a:lnTo>
                  <a:pt x="0" y="3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85286" y="648607"/>
            <a:ext cx="11907103" cy="137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spc="224">
                <a:solidFill>
                  <a:srgbClr val="35B3F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前端&amp;API功能介紹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-5110709" y="4495924"/>
            <a:ext cx="11520040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07923" y="3625304"/>
            <a:ext cx="14674014" cy="1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JSON (JavaScript Object Notation): 作為前後端溝通的標準資料格式。後端回傳 JSON，前端解析後顯示於網頁上。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07923" y="6210218"/>
            <a:ext cx="14674014" cy="1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RESTful API 概念: 定義了清楚的介面（/api/records），並根據 HTTP 方法（GET, POST, DELETE）執行不同的資料庫操作。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34084" y="-27147"/>
            <a:ext cx="10748929" cy="10969660"/>
            <a:chOff x="0" y="0"/>
            <a:chExt cx="2830994" cy="2889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0993" cy="2889129"/>
            </a:xfrm>
            <a:custGeom>
              <a:avLst/>
              <a:gdLst/>
              <a:ahLst/>
              <a:cxnLst/>
              <a:rect l="l" t="t" r="r" b="b"/>
              <a:pathLst>
                <a:path w="2830993" h="2889129">
                  <a:moveTo>
                    <a:pt x="0" y="0"/>
                  </a:moveTo>
                  <a:lnTo>
                    <a:pt x="2830993" y="0"/>
                  </a:lnTo>
                  <a:lnTo>
                    <a:pt x="2830993" y="2889129"/>
                  </a:lnTo>
                  <a:lnTo>
                    <a:pt x="0" y="2889129"/>
                  </a:lnTo>
                  <a:close/>
                </a:path>
              </a:pathLst>
            </a:custGeom>
            <a:solidFill>
              <a:srgbClr val="2828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30994" cy="2936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873416">
            <a:off x="3478842" y="4772778"/>
            <a:ext cx="10959771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792552">
            <a:off x="6794458" y="264891"/>
            <a:ext cx="2209301" cy="10154881"/>
            <a:chOff x="0" y="0"/>
            <a:chExt cx="581874" cy="28891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874" cy="2889129"/>
            </a:xfrm>
            <a:custGeom>
              <a:avLst/>
              <a:gdLst/>
              <a:ahLst/>
              <a:cxnLst/>
              <a:rect l="l" t="t" r="r" b="b"/>
              <a:pathLst>
                <a:path w="581874" h="2889129">
                  <a:moveTo>
                    <a:pt x="0" y="0"/>
                  </a:moveTo>
                  <a:lnTo>
                    <a:pt x="581874" y="0"/>
                  </a:lnTo>
                  <a:lnTo>
                    <a:pt x="581874" y="2889129"/>
                  </a:lnTo>
                  <a:lnTo>
                    <a:pt x="0" y="28891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1874" cy="2936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118" y="0"/>
            <a:ext cx="9133881" cy="10939699"/>
          </a:xfrm>
          <a:custGeom>
            <a:avLst/>
            <a:gdLst/>
            <a:ahLst/>
            <a:cxnLst/>
            <a:rect l="l" t="t" r="r" b="b"/>
            <a:pathLst>
              <a:path w="8760622" h="10314147">
                <a:moveTo>
                  <a:pt x="0" y="0"/>
                </a:moveTo>
                <a:lnTo>
                  <a:pt x="8760622" y="0"/>
                </a:lnTo>
                <a:lnTo>
                  <a:pt x="8760622" y="10314147"/>
                </a:lnTo>
                <a:lnTo>
                  <a:pt x="0" y="10314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1" r="-14773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380871" y="5884451"/>
            <a:ext cx="5899586" cy="908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我不想刪這行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5058" y="3312493"/>
            <a:ext cx="8931784" cy="163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04"/>
              </a:lnSpc>
              <a:spcBef>
                <a:spcPct val="0"/>
              </a:spcBef>
            </a:pPr>
            <a:r>
              <a:rPr lang="en-US" sz="9574" spc="26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畫面展示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36640" y="8068626"/>
            <a:ext cx="6543817" cy="908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同上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76061" y="5764755"/>
            <a:ext cx="1078844" cy="130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1">
                <a:solidFill>
                  <a:srgbClr val="FFA4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2622" y="7948931"/>
            <a:ext cx="1078844" cy="130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1">
                <a:solidFill>
                  <a:srgbClr val="7EDB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80871" y="1690525"/>
            <a:ext cx="6734806" cy="40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27"/>
              </a:lnSpc>
              <a:spcBef>
                <a:spcPct val="0"/>
              </a:spcBef>
            </a:pPr>
            <a:r>
              <a:rPr lang="en-US" sz="2376" spc="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INTERFACE (UI) 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93945" y="-164667"/>
            <a:ext cx="11615403" cy="10919277"/>
            <a:chOff x="0" y="0"/>
            <a:chExt cx="3059201" cy="2889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9201" cy="2889129"/>
            </a:xfrm>
            <a:custGeom>
              <a:avLst/>
              <a:gdLst/>
              <a:ahLst/>
              <a:cxnLst/>
              <a:rect l="l" t="t" r="r" b="b"/>
              <a:pathLst>
                <a:path w="3059201" h="2889129">
                  <a:moveTo>
                    <a:pt x="0" y="0"/>
                  </a:moveTo>
                  <a:lnTo>
                    <a:pt x="3059201" y="0"/>
                  </a:lnTo>
                  <a:lnTo>
                    <a:pt x="3059201" y="2889129"/>
                  </a:lnTo>
                  <a:lnTo>
                    <a:pt x="0" y="2889129"/>
                  </a:lnTo>
                  <a:close/>
                </a:path>
              </a:pathLst>
            </a:custGeom>
            <a:solidFill>
              <a:srgbClr val="2828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59201" cy="2936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873416">
            <a:off x="2567337" y="4645662"/>
            <a:ext cx="10848151" cy="1298623"/>
          </a:xfrm>
          <a:custGeom>
            <a:avLst/>
            <a:gdLst/>
            <a:ahLst/>
            <a:cxnLst/>
            <a:rect l="l" t="t" r="r" b="b"/>
            <a:pathLst>
              <a:path w="11520040" h="1298623">
                <a:moveTo>
                  <a:pt x="0" y="0"/>
                </a:moveTo>
                <a:lnTo>
                  <a:pt x="11520040" y="0"/>
                </a:lnTo>
                <a:lnTo>
                  <a:pt x="11520040" y="1298623"/>
                </a:lnTo>
                <a:lnTo>
                  <a:pt x="0" y="129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265799" y="5900185"/>
            <a:ext cx="8396598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這行我也不想刪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65799" y="5332186"/>
            <a:ext cx="61776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FFA4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Theoretical Framework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65799" y="7566885"/>
            <a:ext cx="867962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同上again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65799" y="7291295"/>
            <a:ext cx="61776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7EDB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Theoretical Framework 2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-34223"/>
            <a:ext cx="8915400" cy="10969660"/>
          </a:xfrm>
          <a:custGeom>
            <a:avLst/>
            <a:gdLst/>
            <a:ahLst/>
            <a:cxnLst/>
            <a:rect l="l" t="t" r="r" b="b"/>
            <a:pathLst>
              <a:path w="8717588" h="10287000">
                <a:moveTo>
                  <a:pt x="0" y="0"/>
                </a:moveTo>
                <a:lnTo>
                  <a:pt x="8717588" y="0"/>
                </a:lnTo>
                <a:lnTo>
                  <a:pt x="87175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777" r="-619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53194" y="981075"/>
            <a:ext cx="5706106" cy="40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27"/>
              </a:lnSpc>
              <a:spcBef>
                <a:spcPct val="0"/>
              </a:spcBef>
            </a:pPr>
            <a:r>
              <a:rPr lang="en-US" sz="2376" spc="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RIMBERIO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自訂</PresentationFormat>
  <Paragraphs>37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League Spartan</vt:lpstr>
      <vt:lpstr>Arial</vt:lpstr>
      <vt:lpstr>Open Sans</vt:lpstr>
      <vt:lpstr>Calibri</vt:lpstr>
      <vt:lpstr>Open Sans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Thesis Defense Research Presentation</dc:title>
  <cp:lastModifiedBy>asus</cp:lastModifiedBy>
  <cp:revision>2</cp:revision>
  <dcterms:created xsi:type="dcterms:W3CDTF">2006-08-16T00:00:00Z</dcterms:created>
  <dcterms:modified xsi:type="dcterms:W3CDTF">2026-01-16T01:40:19Z</dcterms:modified>
  <dc:identifier>DAG9OiPwXZc</dc:identifier>
</cp:coreProperties>
</file>